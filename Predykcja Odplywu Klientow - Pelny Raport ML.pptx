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Poppins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Poppins Medium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9C3B64-3E8F-4C4A-9889-888EF5DC4B45}">
  <a:tblStyle styleId="{4B9C3B64-3E8F-4C4A-9889-888EF5DC4B4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regular.fntdata"/><Relationship Id="rId20" Type="http://schemas.openxmlformats.org/officeDocument/2006/relationships/slide" Target="slides/slide14.xml"/><Relationship Id="rId42" Type="http://schemas.openxmlformats.org/officeDocument/2006/relationships/font" Target="fonts/PoppinsMedium-italic.fntdata"/><Relationship Id="rId41" Type="http://schemas.openxmlformats.org/officeDocument/2006/relationships/font" Target="fonts/PoppinsMedium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PoppinsMedium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oppins-bold.fntdata"/><Relationship Id="rId10" Type="http://schemas.openxmlformats.org/officeDocument/2006/relationships/slide" Target="slides/slide4.xml"/><Relationship Id="rId32" Type="http://schemas.openxmlformats.org/officeDocument/2006/relationships/font" Target="fonts/Poppins-regular.fntdata"/><Relationship Id="rId13" Type="http://schemas.openxmlformats.org/officeDocument/2006/relationships/slide" Target="slides/slide7.xml"/><Relationship Id="rId35" Type="http://schemas.openxmlformats.org/officeDocument/2006/relationships/font" Target="fonts/Poppins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-italic.fntdata"/><Relationship Id="rId15" Type="http://schemas.openxmlformats.org/officeDocument/2006/relationships/slide" Target="slides/slide9.xml"/><Relationship Id="rId37" Type="http://schemas.openxmlformats.org/officeDocument/2006/relationships/font" Target="fonts/Lato-bold.fntdata"/><Relationship Id="rId14" Type="http://schemas.openxmlformats.org/officeDocument/2006/relationships/slide" Target="slides/slide8.xml"/><Relationship Id="rId36" Type="http://schemas.openxmlformats.org/officeDocument/2006/relationships/font" Target="fonts/Lato-regular.fntdata"/><Relationship Id="rId17" Type="http://schemas.openxmlformats.org/officeDocument/2006/relationships/slide" Target="slides/slide11.xml"/><Relationship Id="rId39" Type="http://schemas.openxmlformats.org/officeDocument/2006/relationships/font" Target="fonts/Lato-boldItalic.fntdata"/><Relationship Id="rId16" Type="http://schemas.openxmlformats.org/officeDocument/2006/relationships/slide" Target="slides/slide10.xml"/><Relationship Id="rId38" Type="http://schemas.openxmlformats.org/officeDocument/2006/relationships/font" Target="fonts/La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Relationship Id="rId4" Type="http://schemas.openxmlformats.org/officeDocument/2006/relationships/image" Target="../media/image10.pn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Relationship Id="rId4" Type="http://schemas.openxmlformats.org/officeDocument/2006/relationships/image" Target="../media/image10.png"/><Relationship Id="rId5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50.png"/><Relationship Id="rId5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10" Type="http://schemas.openxmlformats.org/officeDocument/2006/relationships/image" Target="../media/image48.png"/><Relationship Id="rId9" Type="http://schemas.openxmlformats.org/officeDocument/2006/relationships/image" Target="../media/image39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Relationship Id="rId7" Type="http://schemas.openxmlformats.org/officeDocument/2006/relationships/image" Target="../media/image10.png"/><Relationship Id="rId8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1300" y="4183409"/>
            <a:ext cx="6629400" cy="83046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25503" y="2308919"/>
            <a:ext cx="7940992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Predykcja Odpływu </a:t>
            </a:r>
            <a:r>
              <a:rPr b="1" i="0" lang="en-US" sz="40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Klientów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481512" y="4478684"/>
            <a:ext cx="32289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AUTORZY PROJEKTU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81512" y="4739580"/>
            <a:ext cx="3228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M. Golonko • P. Kardyński • J. Chrzanowski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890950" y="3325058"/>
            <a:ext cx="6519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Zbiór danych: IBM Telco Customer Churn (Kaggle)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9337"/>
            <a:ext cx="3524250" cy="30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19337"/>
            <a:ext cx="3524250" cy="30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319337"/>
            <a:ext cx="3524250" cy="304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66775" y="3224212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Adekwatność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700462"/>
            <a:ext cx="29337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Zbiór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IBM Telco Customer Churn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(7043 unikalne rekordy z Kalifornii) perfekcyjnie odwzorowuje realny profil konsumenta branży telekomunikacyjnej.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29150" y="3224212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Złożoność cech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29150" y="3700462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21 cech wejściowych pokrywa pełne spektrum danych: dane demograficzne, technologie sieciowe, pakiety bezpieczeństwa oraz finanse.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391525" y="3224212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Wielkość próby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91525" y="3700462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Skala ponad 7 tysięcy wierszy pozwala na rzetelny podział na podzbiory uczące i testowe, zapobiegając ryzyku przeuczenia i przypadkowości wyników.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622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26622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2662237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Trzy filary wyboru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zbioru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19337"/>
            <a:ext cx="5334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2687091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Analiza przestrzenna anomalii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3163341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Mapa braków danych w zbiorze (reprodukowana z biblioteki Seaborn/Python) ukazuje bezwzględną ciągłość kolumn poza rzadkimi, liniowymi brakami (żółte kreski) w zmiennej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TotalCharges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176712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Dzięki rygorystycznemu preprocessingowi, usunięciu szumów i zastąpieniu braków wartościami neutralnymi, modele zachowały pełną czułość informacyjną.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0375" y="2509837"/>
            <a:ext cx="42862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Wizualizacja braków: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Heatmap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3166913"/>
            <a:ext cx="4953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26.5%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4309913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KLASA MNIEJSZOŚCIOWA (CHURN)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286500" y="2824162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Analiza struktury rozkładu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286500" y="330041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 badanej próbie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1869 klientów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zdecydowało się odejść (26.53%), natomiast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5174 klientów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pozostało lojalnych (73.47%).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286500" y="4039492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Naturalna asymetria klas w skali 1:3 uniemożliwia stosowanie metryki dokładności (Accuracy) jako miary sukcesu. Modele zostały zoptymalizowane pod kątem wykrywania rzadkiej klasy uciekającej.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Niezbalansowanie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klas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19337"/>
            <a:ext cx="5334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2824162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Okres adaptacyjny klienta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330041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Najwyższe natężenie rezygnacji (Churn = 1) obserwuje się w pierwszych 12 miesiącach relacji (średni staż to zaledwie kilka miesięcy).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4544467"/>
            <a:ext cx="5334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Abonenci ze stażem powyżej 60 miesięcy wykazują stabilność i skokowo wyższą lojalność, co pozycjonuje staż (tenure) jako potężny czynnik retencyjny.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0375" y="2509837"/>
            <a:ext cx="42862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Zależność stażu: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Boxplot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715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Analiza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korelacji</a:t>
            </a:r>
            <a:endParaRPr>
              <a:solidFill>
                <a:srgbClr val="10B981"/>
              </a:solidFill>
            </a:endParaRPr>
          </a:p>
        </p:txBody>
      </p:sp>
      <p:pic>
        <p:nvPicPr>
          <p:cNvPr id="151" name="Google Shape;15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3923" y="571500"/>
            <a:ext cx="5928051" cy="53055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2304637"/>
            <a:ext cx="53340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2"/>
                </a:solidFill>
              </a:rPr>
              <a:t>Umowy krótkoterminowe (</a:t>
            </a:r>
            <a:r>
              <a:rPr b="1" i="1" lang="en-US" sz="1300">
                <a:solidFill>
                  <a:schemeClr val="lt2"/>
                </a:solidFill>
              </a:rPr>
              <a:t>Month-to-month</a:t>
            </a:r>
            <a:r>
              <a:rPr b="1" lang="en-US" sz="1300">
                <a:solidFill>
                  <a:schemeClr val="lt2"/>
                </a:solidFill>
              </a:rPr>
              <a:t>)</a:t>
            </a:r>
            <a:r>
              <a:rPr lang="en-US" sz="1300">
                <a:solidFill>
                  <a:schemeClr val="lt2"/>
                </a:solidFill>
              </a:rPr>
              <a:t> – wykazują najsilniejszy dodatni wpływ na odejście (</a:t>
            </a:r>
            <a:r>
              <a:rPr b="1" lang="en-US" sz="1300">
                <a:solidFill>
                  <a:schemeClr val="lt2"/>
                </a:solidFill>
              </a:rPr>
              <a:t>r = 0,41</a:t>
            </a:r>
            <a:r>
              <a:rPr lang="en-US" sz="1300">
                <a:solidFill>
                  <a:schemeClr val="lt2"/>
                </a:solidFill>
              </a:rPr>
              <a:t>), ponieważ brak zobowiązań prawnych ułatwia szybką rezygnację.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2"/>
                </a:solidFill>
              </a:rPr>
              <a:t>Niski staż klienta (</a:t>
            </a:r>
            <a:r>
              <a:rPr b="1" i="1" lang="en-US" sz="1300">
                <a:solidFill>
                  <a:schemeClr val="lt2"/>
                </a:solidFill>
              </a:rPr>
              <a:t>tenure</a:t>
            </a:r>
            <a:r>
              <a:rPr b="1" lang="en-US" sz="1300">
                <a:solidFill>
                  <a:schemeClr val="lt2"/>
                </a:solidFill>
              </a:rPr>
              <a:t>)</a:t>
            </a:r>
            <a:r>
              <a:rPr lang="en-US" sz="1300">
                <a:solidFill>
                  <a:schemeClr val="lt2"/>
                </a:solidFill>
              </a:rPr>
              <a:t> – silna korelacja ujemna (</a:t>
            </a:r>
            <a:r>
              <a:rPr b="1" lang="en-US" sz="1300">
                <a:solidFill>
                  <a:schemeClr val="lt2"/>
                </a:solidFill>
              </a:rPr>
              <a:t>r = -0,35</a:t>
            </a:r>
            <a:r>
              <a:rPr lang="en-US" sz="1300">
                <a:solidFill>
                  <a:schemeClr val="lt2"/>
                </a:solidFill>
              </a:rPr>
              <a:t>) dowodzi, że zbudowanie długofalowej relacji to najskuteczniejsza naturalna bariera retencyjna.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2"/>
                </a:solidFill>
              </a:rPr>
              <a:t>Internet światłowodowy (</a:t>
            </a:r>
            <a:r>
              <a:rPr b="1" i="1" lang="en-US" sz="1300">
                <a:solidFill>
                  <a:schemeClr val="lt2"/>
                </a:solidFill>
              </a:rPr>
              <a:t>Fiber optic</a:t>
            </a:r>
            <a:r>
              <a:rPr b="1" lang="en-US" sz="1300">
                <a:solidFill>
                  <a:schemeClr val="lt2"/>
                </a:solidFill>
              </a:rPr>
              <a:t>)</a:t>
            </a:r>
            <a:r>
              <a:rPr lang="en-US" sz="1300">
                <a:solidFill>
                  <a:schemeClr val="lt2"/>
                </a:solidFill>
              </a:rPr>
              <a:t> – paradoksalnie i nieintuicyjnie zwiększa ryzyko odejścia (</a:t>
            </a:r>
            <a:r>
              <a:rPr b="1" lang="en-US" sz="1300">
                <a:solidFill>
                  <a:schemeClr val="lt2"/>
                </a:solidFill>
              </a:rPr>
              <a:t>r = 0,31</a:t>
            </a:r>
            <a:r>
              <a:rPr lang="en-US" sz="1300">
                <a:solidFill>
                  <a:schemeClr val="lt2"/>
                </a:solidFill>
              </a:rPr>
              <a:t>), co sygnalizuje problemy z ceną, stabilnością technologii lub ukrytymi kosztami.</a:t>
            </a:r>
            <a:endParaRPr sz="1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2"/>
                </a:solidFill>
              </a:rPr>
              <a:t>Brak wsparcia i bezpieczeństwa</a:t>
            </a:r>
            <a:r>
              <a:rPr lang="en-US" sz="1300">
                <a:solidFill>
                  <a:schemeClr val="lt2"/>
                </a:solidFill>
              </a:rPr>
              <a:t> – pozbawienie klientów opieki technicznej (</a:t>
            </a:r>
            <a:r>
              <a:rPr i="1" lang="en-US" sz="1300">
                <a:solidFill>
                  <a:schemeClr val="lt2"/>
                </a:solidFill>
              </a:rPr>
              <a:t>TechSupport</a:t>
            </a:r>
            <a:r>
              <a:rPr lang="en-US" sz="1300">
                <a:solidFill>
                  <a:schemeClr val="lt2"/>
                </a:solidFill>
              </a:rPr>
              <a:t>) oraz ochrony online (</a:t>
            </a:r>
            <a:r>
              <a:rPr i="1" lang="en-US" sz="1300">
                <a:solidFill>
                  <a:schemeClr val="lt2"/>
                </a:solidFill>
              </a:rPr>
              <a:t>OnlineSecurity</a:t>
            </a:r>
            <a:r>
              <a:rPr lang="en-US" sz="1300">
                <a:solidFill>
                  <a:schemeClr val="lt2"/>
                </a:solidFill>
              </a:rPr>
              <a:t>) drastycznie przyspiesza ich decyzję o porzuceniu operatora.</a:t>
            </a:r>
            <a:endParaRPr sz="1300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1790001"/>
            <a:ext cx="515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Kluczowe czynniki odpływu klientów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1357"/>
            <a:ext cx="5334000" cy="2163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84140"/>
            <a:ext cx="5334000" cy="1918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866775" y="3056632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Hipoteza Główna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66775" y="3532882"/>
            <a:ext cx="4743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Zastosowanie elastycznych, nieparametrycznych algorytmów uczenia maszynowego pozwoli na dokładne wykrycie klientów planujących migrację na bazie ich unikalnego behawioralnego profilu.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581775" y="3207990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Hipoteza Szczegółowa I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581775" y="3684240"/>
            <a:ext cx="4743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Abonenci posiadający umowy krótkoterminowe (Month-to-month) wykazują najwyższą skłonność do natychmiastowej rezygnacji ze względu na brak barier prawnych i finansowych.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Hipoteza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kontraktu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7069"/>
            <a:ext cx="5334000" cy="21925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84140"/>
            <a:ext cx="5334000" cy="1918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866775" y="3070919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Hipoteza Szczegółowa II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866775" y="3547169"/>
            <a:ext cx="4743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Użytkownicy łącz światłowodowych (Fiber optic) odchodzą częściej niż abonenci starszych technologii miedzianych (DSL). Sygnalizuje to ukryte wady cennikowe lub niedopasowanie oferty premium do jakości techniczej.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6581775" y="3207990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Hipoteza Szczegółowa III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581775" y="3684240"/>
            <a:ext cx="4743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Brak pakietów wsparcia niefinansowego (takich jak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TechSupport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lub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OnlineSecurity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) drastycznie osłabia barierę lojalnościową i przyspiesza podjęcie decyzji o zmianie operatora.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Segmenty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infrastruktury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226742"/>
            <a:ext cx="5334000" cy="1233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71500" y="2687091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Biznesowa przewaga czułości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3163341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 asymetrycznym scenariuszu biznesowym błędy polegające na przeoczeniu odchodzącego klienta (False Negatives) generują najwyższe straty finansowe.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4176712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Dlatego priorytetem optymalizacyjnym modeli jest maksymalizacja wskaźnika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Recall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(Czułości), dopuszczając tym samym pewien odsetek fałszywych alarmów.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581775" y="3522017"/>
            <a:ext cx="4743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WZÓR NA CZUŁOŚĆ KLASYFIKATORA</a:t>
            </a:r>
            <a:endParaRPr/>
          </a:p>
        </p:txBody>
      </p:sp>
      <p:pic>
        <p:nvPicPr>
          <p:cNvPr descr="image.png" id="191" name="Google Shape;19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6015" y="3878163"/>
            <a:ext cx="1654819" cy="28634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Miara sukcesu: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Recall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571500" y="2824162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Zbalansowanie modelu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330041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Optymalizacja samej czułości mogłaby doprowadzić do trywialnego modelu klasyfikującego wszystkich klientów jako odchodzących.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4039492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 celu kontroli stabilności predykcji, jako drugą miarę przyjęto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F1-Score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- średnią harmoniczną precyzji i czułości, nakładającą wysokie kary za skrajne dysproporcje.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6581775" y="3522017"/>
            <a:ext cx="4743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WZÓR NA ŚREDNIĄ HARMONICZNĄ</a:t>
            </a:r>
            <a:endParaRPr/>
          </a:p>
        </p:txBody>
      </p:sp>
      <p:pic>
        <p:nvPicPr>
          <p:cNvPr descr="image.png" id="203" name="Google Shape;20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5142" y="3878163"/>
            <a:ext cx="2296715" cy="28634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Miara sukcesu: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F1-Score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61357"/>
            <a:ext cx="5334000" cy="2163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6610350" y="3056632"/>
            <a:ext cx="49506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Decyzja metodologiczna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6610350" y="3532882"/>
            <a:ext cx="47148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egresja logistyczna została odrzucona na etapie projektowym ze względu na zbyt duże ryzyko generowania błędów False Negative.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904875" y="2763291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Założenie liniowości granic: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Algorytm klasycznej regresji logistycznej z góry zakłada liniową separowalność klas.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904875" y="3483322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Ryzyko współliniowości: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One-Hot Encoding tworzy rzadkie, skorelowane zmienne kategoryczne, co destabilizuje wagi regresji.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904875" y="4203352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Brak interakcji automatycznych: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Model nie potrafi wychwycić nieliniowych relacji stażu z opłatami bez ręcznej inżynierii cech.</a:t>
            </a:r>
            <a:endParaRPr/>
          </a:p>
        </p:txBody>
      </p:sp>
      <p:pic>
        <p:nvPicPr>
          <p:cNvPr descr="image.png" id="217" name="Google Shape;21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9662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1665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3669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Regresja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logistyczna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98427"/>
            <a:ext cx="5334000" cy="1889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6610350" y="3193702"/>
            <a:ext cx="49506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Zalety architektury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6610350" y="3669952"/>
            <a:ext cx="47148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Dzięki losowości wyboru podzbioru cech w każdym węźle, Las Losowy wykazuje naturalną odporność na zjawisko przeuczenia na szumie kategorycznym.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904875" y="2758529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Zasada działania: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Klasyfikator zespołowy oparty na koncepcji baggingu - jednoczesnym, niezależnym budowaniu drzew.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904875" y="3478559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Podejście nieparametryczne: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Brak wymagań dotyczących normalizacji rozkładów i skalowania cech numerycznych.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904875" y="4198590"/>
            <a:ext cx="50006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Zwalczanie asymetrii: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Wykorzystano parametr próbkowania wewnątrz-drzewiastego class_weight='balanced_subsample'.</a:t>
            </a:r>
            <a:endParaRPr/>
          </a:p>
        </p:txBody>
      </p:sp>
      <p:pic>
        <p:nvPicPr>
          <p:cNvPr descr="image.png" id="233" name="Google Shape;23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9186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1189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3192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Metoda I: Las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Losowy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2620416"/>
            <a:ext cx="4267200" cy="2445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7648575" y="2915691"/>
            <a:ext cx="38604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Macierz pomyłek RF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7648575" y="3391941"/>
            <a:ext cx="3676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Liczba poprawnych detekcji: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7648575" y="3761482"/>
            <a:ext cx="36766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306 / 374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7648575" y="4344292"/>
            <a:ext cx="36766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Model pomylił się tylko 68 razy, nie zauważając odchodzącego klienta (False Negative).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Wyniki: Las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Losowy</a:t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800" y="2507450"/>
            <a:ext cx="7048498" cy="2281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09837"/>
            <a:ext cx="5334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571500" y="2961382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Wydajność predykcyjna RF</a:t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>
            <a:off x="571500" y="343763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Płytka struktura drzew (max_depth=5) zapobiega przeuczeniu modelu na szumie informacyjnym, zapewniając doskonałą generalizację.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571500" y="417671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Wskaźnik 68 fałszywych negatywów jest najniższym wynikiem w całym cyklu eksperymentalnym.</a:t>
            </a:r>
            <a:endParaRPr/>
          </a:p>
        </p:txBody>
      </p:sp>
      <p:pic>
        <p:nvPicPr>
          <p:cNvPr descr="image.png" id="259" name="Google Shape;25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0375" y="2605087"/>
            <a:ext cx="428625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Macierz pomyłek: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Random Forest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98427"/>
            <a:ext cx="5334000" cy="1889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7"/>
          <p:cNvSpPr txBox="1"/>
          <p:nvPr/>
        </p:nvSpPr>
        <p:spPr>
          <a:xfrm>
            <a:off x="6610350" y="3193702"/>
            <a:ext cx="49506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Potencjał technologii</a:t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6610350" y="3669952"/>
            <a:ext cx="47148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XGBoost oferuje rygorystyczną regularyzację L1 (Lasso) oraz L2 (Ridge) wbudowaną w proces podziału węzłów, co pozwala kontrolować głębokość nieliniowości.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904875" y="2527204"/>
            <a:ext cx="5000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Gradient Boosting: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Sekwencyjne budowanie struktur drzewiastych, gdzie każde kolejne drzewo uczy się na błędach poprzednika.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904875" y="3478559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Aproksymacja Taylora: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Wykorzystanie pochodnych drugiego rzędu do precyzyjnej optymalizacji funkcji straty.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904875" y="4198590"/>
            <a:ext cx="50006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Hiperparametr balansu: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Zaimplementowano dynamiczną wagę klasy rzadkiej poprzez scale_pos_weight = 2.76.</a:t>
            </a:r>
            <a:endParaRPr/>
          </a:p>
        </p:txBody>
      </p:sp>
      <p:pic>
        <p:nvPicPr>
          <p:cNvPr descr="image.png" id="273" name="Google Shape;27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9186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1189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3192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Metoda II: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XGBoost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2620416"/>
            <a:ext cx="4267200" cy="2445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7648575" y="2915691"/>
            <a:ext cx="38604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Macierz pomyłek XGB</a:t>
            </a:r>
            <a:endParaRPr/>
          </a:p>
        </p:txBody>
      </p:sp>
      <p:sp>
        <p:nvSpPr>
          <p:cNvPr id="284" name="Google Shape;284;p28"/>
          <p:cNvSpPr txBox="1"/>
          <p:nvPr/>
        </p:nvSpPr>
        <p:spPr>
          <a:xfrm>
            <a:off x="7648575" y="3391941"/>
            <a:ext cx="3676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Liczba poprawnych detekcji: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7648575" y="3761482"/>
            <a:ext cx="36766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303 / 374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7648575" y="4344292"/>
            <a:ext cx="36766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Płytka struktura drzew (depth=3) zagwarantowała stabilną predykcję na nowym zbiorze testowym.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Wyniki: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XGBoost</a:t>
            </a:r>
            <a:endParaRPr/>
          </a:p>
        </p:txBody>
      </p:sp>
      <p:pic>
        <p:nvPicPr>
          <p:cNvPr id="288" name="Google Shape;28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0" y="2666888"/>
            <a:ext cx="7048500" cy="2352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09837"/>
            <a:ext cx="5334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9"/>
          <p:cNvSpPr txBox="1"/>
          <p:nvPr/>
        </p:nvSpPr>
        <p:spPr>
          <a:xfrm>
            <a:off x="571500" y="2961382"/>
            <a:ext cx="560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Konwergencja wzmacniania</a:t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571500" y="343763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Wprowadzenie wagi kary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scale_pos_weight = 2.76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zmusiło algorytm do agresywnego minimalizowania błędów FN.</a:t>
            </a:r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571500" y="4176712"/>
            <a:ext cx="5334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Model wykazuje zbliżone do RF zdolności predykcyjne (czułość 81%), stanowiąc doskonały ekwiwalent architektoniczny.</a:t>
            </a:r>
            <a:endParaRPr/>
          </a:p>
        </p:txBody>
      </p:sp>
      <p:pic>
        <p:nvPicPr>
          <p:cNvPr descr="image.png" id="299" name="Google Shape;29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0375" y="2605087"/>
            <a:ext cx="428625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Macierz pomyłek: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XGBoost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98427"/>
            <a:ext cx="5334000" cy="1889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610350" y="3193702"/>
            <a:ext cx="49506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Benchmark technologiczny</a:t>
            </a:r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6610350" y="3669952"/>
            <a:ext cx="47148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Sieć neuronowa MLP została zaprojektowana w środowisku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PyTorch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jako zaawansowany benchmark technologiczny dla modeli drzewiastych.</a:t>
            </a:r>
            <a:endParaRPr/>
          </a:p>
        </p:txBody>
      </p:sp>
      <p:sp>
        <p:nvSpPr>
          <p:cNvPr id="310" name="Google Shape;310;p30"/>
          <p:cNvSpPr txBox="1"/>
          <p:nvPr/>
        </p:nvSpPr>
        <p:spPr>
          <a:xfrm>
            <a:off x="904875" y="2753766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Architektura warstw: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1 warstwa wejściowa (30 cech po One-Hot), 1 ukryta (32 neurony) oraz neuron wyjściowy.</a:t>
            </a:r>
            <a:endParaRPr/>
          </a:p>
        </p:txBody>
      </p:sp>
      <p:sp>
        <p:nvSpPr>
          <p:cNvPr id="311" name="Google Shape;311;p30"/>
          <p:cNvSpPr txBox="1"/>
          <p:nvPr/>
        </p:nvSpPr>
        <p:spPr>
          <a:xfrm>
            <a:off x="904875" y="3473797"/>
            <a:ext cx="50006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Regularyzacja: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Zaimplementowano funkcję aktywacji ReLU oraz silną eliminację neuronów Dropout(0.4).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904875" y="4203352"/>
            <a:ext cx="50006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Optymalizacja straty: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Wdrożono funkcję BCEWithLogitsLoss z wagą tensora 2.89 dla obsługi asymetrii klas.</a:t>
            </a:r>
            <a:endParaRPr/>
          </a:p>
        </p:txBody>
      </p:sp>
      <p:pic>
        <p:nvPicPr>
          <p:cNvPr descr="image.png" id="313" name="Google Shape;31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8710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713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36690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Metoda III: PyTorch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MLP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300" y="2620416"/>
            <a:ext cx="4267200" cy="2445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 txBox="1"/>
          <p:nvPr/>
        </p:nvSpPr>
        <p:spPr>
          <a:xfrm>
            <a:off x="7648575" y="2915691"/>
            <a:ext cx="38604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Macierz pomyłek MLP</a:t>
            </a:r>
            <a:endParaRPr/>
          </a:p>
        </p:txBody>
      </p:sp>
      <p:sp>
        <p:nvSpPr>
          <p:cNvPr id="324" name="Google Shape;324;p31"/>
          <p:cNvSpPr txBox="1"/>
          <p:nvPr/>
        </p:nvSpPr>
        <p:spPr>
          <a:xfrm>
            <a:off x="7648575" y="3391941"/>
            <a:ext cx="3676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Liczba poprawnych detekcji:</a:t>
            </a:r>
            <a:endParaRPr/>
          </a:p>
        </p:txBody>
      </p:sp>
      <p:sp>
        <p:nvSpPr>
          <p:cNvPr id="325" name="Google Shape;325;p31"/>
          <p:cNvSpPr txBox="1"/>
          <p:nvPr/>
        </p:nvSpPr>
        <p:spPr>
          <a:xfrm>
            <a:off x="7648575" y="3761482"/>
            <a:ext cx="36766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190 / 374</a:t>
            </a:r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7648575" y="4344292"/>
            <a:ext cx="36766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Model przeoczył aż 184 odchodzących abonentów (False Negative), co generuje krytyczne straty biznesowe.</a:t>
            </a:r>
            <a:endParaRPr/>
          </a:p>
        </p:txBody>
      </p:sp>
      <p:sp>
        <p:nvSpPr>
          <p:cNvPr id="327" name="Google Shape;327;p3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Wyniki: PyTorch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MLP</a:t>
            </a:r>
            <a:endParaRPr/>
          </a:p>
        </p:txBody>
      </p:sp>
      <p:pic>
        <p:nvPicPr>
          <p:cNvPr id="328" name="Google Shape;32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425" y="2690313"/>
            <a:ext cx="7048499" cy="2305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09837"/>
            <a:ext cx="5334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 txBox="1"/>
          <p:nvPr/>
        </p:nvSpPr>
        <p:spPr>
          <a:xfrm>
            <a:off x="571500" y="6334125"/>
            <a:ext cx="23907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SEKCJA 5 • MULTI-LAYER PERCEPTRON</a:t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11068050" y="6334125"/>
            <a:ext cx="552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SLAJD 22</a:t>
            </a:r>
            <a:endParaRPr/>
          </a:p>
        </p:txBody>
      </p:sp>
      <p:sp>
        <p:nvSpPr>
          <p:cNvPr id="338" name="Google Shape;338;p32"/>
          <p:cNvSpPr txBox="1"/>
          <p:nvPr/>
        </p:nvSpPr>
        <p:spPr>
          <a:xfrm>
            <a:off x="571500" y="2688087"/>
            <a:ext cx="560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Szybka destabilizacja uczenia</a:t>
            </a:r>
            <a:endParaRPr/>
          </a:p>
        </p:txBody>
      </p:sp>
      <p:sp>
        <p:nvSpPr>
          <p:cNvPr id="339" name="Google Shape;339;p32"/>
          <p:cNvSpPr txBox="1"/>
          <p:nvPr/>
        </p:nvSpPr>
        <p:spPr>
          <a:xfrm>
            <a:off x="571500" y="3066049"/>
            <a:ext cx="5334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Pomimo zaimplementowania Dropoutu (0.4), model wykazuje gwałtowny wzrost błędu generalizacji (overfitting) już po 10-15 epokach.</a:t>
            </a:r>
            <a:endParaRPr/>
          </a:p>
        </p:txBody>
      </p:sp>
      <p:sp>
        <p:nvSpPr>
          <p:cNvPr id="340" name="Google Shape;340;p32"/>
          <p:cNvSpPr txBox="1"/>
          <p:nvPr/>
        </p:nvSpPr>
        <p:spPr>
          <a:xfrm>
            <a:off x="571500" y="4039492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Dla średniej wielkości zbiorów tabelarycznych o dużej rzadkości cech kategorycznych (One-Hot Encoding) głębokie sieci konwergują słabiej niż modele drzewiaste.</a:t>
            </a:r>
            <a:endParaRPr/>
          </a:p>
        </p:txBody>
      </p:sp>
      <p:pic>
        <p:nvPicPr>
          <p:cNvPr descr="image.png" id="341" name="Google Shape;34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0375" y="2605087"/>
            <a:ext cx="428625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PyTorch MLP: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Overfitting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83209"/>
            <a:ext cx="5334000" cy="2520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83209"/>
            <a:ext cx="5334000" cy="2520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3"/>
          <p:cNvSpPr txBox="1"/>
          <p:nvPr/>
        </p:nvSpPr>
        <p:spPr>
          <a:xfrm>
            <a:off x="866775" y="2878484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Pułapka optymalizacji ogólnej</a:t>
            </a:r>
            <a:endParaRPr/>
          </a:p>
        </p:txBody>
      </p:sp>
      <p:sp>
        <p:nvSpPr>
          <p:cNvPr id="352" name="Google Shape;352;p33"/>
          <p:cNvSpPr txBox="1"/>
          <p:nvPr/>
        </p:nvSpPr>
        <p:spPr>
          <a:xfrm>
            <a:off x="866775" y="3354734"/>
            <a:ext cx="4743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MLP osiągnęło najwyższy wskaźnik ogólnej dokładności (Accuracy = 79%). Stało się to jednak kosztem drastycznego spadku czułości dla klasy mniejszościowej.</a:t>
            </a:r>
            <a:endParaRPr/>
          </a:p>
        </p:txBody>
      </p:sp>
      <p:sp>
        <p:nvSpPr>
          <p:cNvPr id="353" name="Google Shape;353;p33"/>
          <p:cNvSpPr txBox="1"/>
          <p:nvPr/>
        </p:nvSpPr>
        <p:spPr>
          <a:xfrm>
            <a:off x="866775" y="4320480"/>
            <a:ext cx="4743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Sieć "poświęciła" odchodzących abonentów dla łatwiejszego klasyfikowania stabilnej, liczniejszej bazy lojalnych klientów.</a:t>
            </a:r>
            <a:endParaRPr/>
          </a:p>
        </p:txBody>
      </p:sp>
      <p:sp>
        <p:nvSpPr>
          <p:cNvPr id="354" name="Google Shape;354;p33"/>
          <p:cNvSpPr txBox="1"/>
          <p:nvPr/>
        </p:nvSpPr>
        <p:spPr>
          <a:xfrm>
            <a:off x="6610350" y="2878484"/>
            <a:ext cx="49506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rzadkich danych</a:t>
            </a:r>
            <a:endParaRPr/>
          </a:p>
        </p:txBody>
      </p:sp>
      <p:sp>
        <p:nvSpPr>
          <p:cNvPr id="355" name="Google Shape;355;p33"/>
          <p:cNvSpPr txBox="1"/>
          <p:nvPr/>
        </p:nvSpPr>
        <p:spPr>
          <a:xfrm>
            <a:off x="6610350" y="3354734"/>
            <a:ext cx="47148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Sieci MLP słabo konwergują na danych tabelarycznych o dużej liczbie rozproszonych kolumn kategorycznych powstałych po zakodowaniu One-Hot.</a:t>
            </a:r>
            <a:endParaRPr/>
          </a:p>
        </p:txBody>
      </p:sp>
      <p:sp>
        <p:nvSpPr>
          <p:cNvPr id="356" name="Google Shape;356;p33"/>
          <p:cNvSpPr txBox="1"/>
          <p:nvPr/>
        </p:nvSpPr>
        <p:spPr>
          <a:xfrm>
            <a:off x="6610350" y="4320480"/>
            <a:ext cx="47148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Model wykazywał skrajną podatność na przeuczenie (overfitting) już po 10-15 epokach, dopasowując się do cech szumowych próby.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Dlaczego MLP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zawiodło?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8001"/>
            <a:ext cx="11049000" cy="3470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4"/>
          <p:cNvSpPr/>
          <p:nvPr/>
        </p:nvSpPr>
        <p:spPr>
          <a:xfrm>
            <a:off x="581025" y="2117526"/>
            <a:ext cx="11029950" cy="3451621"/>
          </a:xfrm>
          <a:prstGeom prst="roundRect">
            <a:avLst>
              <a:gd fmla="val 0" name="adj"/>
            </a:avLst>
          </a:prstGeom>
          <a:solidFill>
            <a:srgbClr val="121824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6" name="Google Shape;366;p34"/>
          <p:cNvGraphicFramePr/>
          <p:nvPr/>
        </p:nvGraphicFramePr>
        <p:xfrm>
          <a:off x="581025" y="21175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{4B9C3B64-3E8F-4C4A-9889-888EF5DC4B45}</a:tableStyleId>
              </a:tblPr>
              <a:tblGrid>
                <a:gridCol w="2040275"/>
                <a:gridCol w="1562700"/>
                <a:gridCol w="1619700"/>
                <a:gridCol w="1501075"/>
                <a:gridCol w="2191200"/>
                <a:gridCol w="2115000"/>
              </a:tblGrid>
              <a:tr h="86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F8FAFC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Model Klasyfikacyjny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F8FAFC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Accuracy (Ogólna)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F8FAFC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Precision (Precyzja)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F8FAFC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Recall (Czułość)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F8FAFC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F1-Score (Zbalansowanie)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F8FAFC"/>
                          </a:solidFill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Status biznesowy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A3B8"/>
                    </a:solidFill>
                  </a:tcPr>
                </a:tc>
              </a:tr>
              <a:tr h="86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Las Losowy (Random Forest)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74%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51%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82%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0.62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REKOMENDOWANY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  <a:tr h="86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XGBoost (Gradient Boosting)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73%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50%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81%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>
                          <a:latin typeface="Lato"/>
                          <a:ea typeface="Lato"/>
                          <a:cs typeface="Lato"/>
                          <a:sym typeface="Lato"/>
                        </a:rPr>
                        <a:t>0.62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ALTERNATYWA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Sieć Neuronowa MLP (PyTorch)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79%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63%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51%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0.56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>
                          <a:latin typeface="Lato"/>
                          <a:ea typeface="Lato"/>
                          <a:cs typeface="Lato"/>
                          <a:sym typeface="Lato"/>
                        </a:rPr>
                        <a:t>NIEPRZYDATNY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7316"/>
                    </a:solidFill>
                  </a:tcPr>
                </a:tc>
              </a:tr>
            </a:tbl>
          </a:graphicData>
        </a:graphic>
      </p:graphicFrame>
      <p:sp>
        <p:nvSpPr>
          <p:cNvPr id="367" name="Google Shape;367;p34"/>
          <p:cNvSpPr/>
          <p:nvPr/>
        </p:nvSpPr>
        <p:spPr>
          <a:xfrm>
            <a:off x="581025" y="2961382"/>
            <a:ext cx="2040284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2621309" y="2961382"/>
            <a:ext cx="1562695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4184005" y="2961382"/>
            <a:ext cx="1619696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5803701" y="2961382"/>
            <a:ext cx="150108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7304782" y="2961382"/>
            <a:ext cx="2191196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9495978" y="2961382"/>
            <a:ext cx="2114996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581025" y="3838575"/>
            <a:ext cx="204028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2621309" y="3838575"/>
            <a:ext cx="156269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4184005" y="3838575"/>
            <a:ext cx="16196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5803701" y="3838575"/>
            <a:ext cx="1501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7304782" y="3838575"/>
            <a:ext cx="21911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9495978" y="3838575"/>
            <a:ext cx="21149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581025" y="4701480"/>
            <a:ext cx="2040284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2621309" y="4701480"/>
            <a:ext cx="1562695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4184005" y="4701480"/>
            <a:ext cx="16196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5803701" y="4701480"/>
            <a:ext cx="15010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7304782" y="4701480"/>
            <a:ext cx="21911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9495978" y="4701480"/>
            <a:ext cx="21149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Zestawienie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metryk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0" name="Google Shape;3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11049000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5"/>
          <p:cNvSpPr txBox="1"/>
          <p:nvPr/>
        </p:nvSpPr>
        <p:spPr>
          <a:xfrm>
            <a:off x="571500" y="465861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Modele zespołów drzewiastych drastycznie deklasują architekturę głęboką pod kątem biznesowej zdolności detekcji odpływu.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Porównanie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czułości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9" name="Google Shape;39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5050"/>
            <a:ext cx="3524250" cy="3076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05050"/>
            <a:ext cx="3524250" cy="3076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305050"/>
            <a:ext cx="3524250" cy="3076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181725"/>
            <a:ext cx="11049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6"/>
          <p:cNvSpPr txBox="1"/>
          <p:nvPr/>
        </p:nvSpPr>
        <p:spPr>
          <a:xfrm>
            <a:off x="866775" y="3238500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Wdrożenie RF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866775" y="3714750"/>
            <a:ext cx="29337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Niezaprzeczalna rekomendacja wdrożeniowa. Model generuje najwyższy Recall (82%), eliminując konieczność kosztownej standaryzacji danych.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4629150" y="3238500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Targetowanie akcji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4629150" y="3714750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Skoncentrować budżet marketingowy na klientach ze stażem &lt; 12 miesięcy posiadających elastyczne umowy Month-to-month.</a:t>
            </a:r>
            <a:endParaRPr/>
          </a:p>
        </p:txBody>
      </p:sp>
      <p:sp>
        <p:nvSpPr>
          <p:cNvPr id="408" name="Google Shape;408;p36"/>
          <p:cNvSpPr txBox="1"/>
          <p:nvPr/>
        </p:nvSpPr>
        <p:spPr>
          <a:xfrm>
            <a:off x="8391525" y="3238500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Maksymalizacja ROI</a:t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8391525" y="3714750"/>
            <a:ext cx="2933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Prewencyjny koszt rabatowania dla fałszywych alarmów (Precision 51%) jest znikomy w porównaniu do utraty klienta (Churn).</a:t>
            </a:r>
            <a:endParaRPr/>
          </a:p>
        </p:txBody>
      </p:sp>
      <p:pic>
        <p:nvPicPr>
          <p:cNvPr descr="image.png" id="410" name="Google Shape;410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6765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29150" y="26765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91525" y="267652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Rekomendacje </a:t>
            </a:r>
            <a:r>
              <a:rPr b="0" i="0" lang="en-US" sz="28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biznesowe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0837" y="3663404"/>
            <a:ext cx="6410325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200775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7"/>
          <p:cNvSpPr txBox="1"/>
          <p:nvPr/>
        </p:nvSpPr>
        <p:spPr>
          <a:xfrm>
            <a:off x="2730575" y="2707350"/>
            <a:ext cx="73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Dziękujemy za Uwagę</a:t>
            </a:r>
            <a:endParaRPr/>
          </a:p>
        </p:txBody>
      </p:sp>
      <p:sp>
        <p:nvSpPr>
          <p:cNvPr id="422" name="Google Shape;422;p37"/>
          <p:cNvSpPr txBox="1"/>
          <p:nvPr/>
        </p:nvSpPr>
        <p:spPr>
          <a:xfrm>
            <a:off x="3081337" y="3863429"/>
            <a:ext cx="60293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DANE REFERENCYJNE</a:t>
            </a:r>
            <a:endParaRPr/>
          </a:p>
        </p:txBody>
      </p:sp>
      <p:sp>
        <p:nvSpPr>
          <p:cNvPr id="423" name="Google Shape;423;p37"/>
          <p:cNvSpPr txBox="1"/>
          <p:nvPr/>
        </p:nvSpPr>
        <p:spPr>
          <a:xfrm>
            <a:off x="3081337" y="4202459"/>
            <a:ext cx="6029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Zbiór danych: IBM Telco Customer Churn (Kaggle)</a:t>
            </a:r>
            <a:endParaRPr/>
          </a:p>
        </p:txBody>
      </p:sp>
      <p:sp>
        <p:nvSpPr>
          <p:cNvPr id="424" name="Google Shape;424;p37"/>
          <p:cNvSpPr txBox="1"/>
          <p:nvPr/>
        </p:nvSpPr>
        <p:spPr>
          <a:xfrm>
            <a:off x="3081337" y="4524375"/>
            <a:ext cx="60293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M. Golonko | P. Kardyński | J. Chrzanowski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